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878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2000"/>
            <a:ext cx="8784000" cy="540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25999"/>
            <a:ext cx="84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光合作用的概念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600" y="1087200"/>
            <a:ext cx="7920000" cy="56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>
                <a:solidFill>
                  <a:srgbClr val="FFA500"/>
                </a:solidFill>
              </a:rPr>
              <a:t>• </a:t>
            </a:r>
            <a:r>
              <a:rPr sz="1600">
                <a:solidFill>
                  <a:srgbClr val="333333"/>
                </a:solidFill>
              </a:rPr>
              <a:t>绿色植物利用光能将 </a:t>
            </a:r>
            <a:r>
              <a:rPr sz="1600">
                <a:solidFill>
                  <a:srgbClr val="333333"/>
                </a:solidFill>
              </a:rPr>
              <a:t>CO₂ </a:t>
            </a:r>
            <a:r>
              <a:rPr sz="1600">
                <a:solidFill>
                  <a:srgbClr val="333333"/>
                </a:solidFill>
              </a:rPr>
              <a:t>和 </a:t>
            </a:r>
            <a:r>
              <a:rPr sz="1600">
                <a:solidFill>
                  <a:srgbClr val="333333"/>
                </a:solidFill>
              </a:rPr>
              <a:t>H₂O </a:t>
            </a:r>
            <a:r>
              <a:rPr sz="1600">
                <a:solidFill>
                  <a:srgbClr val="333333"/>
                </a:solidFill>
              </a:rPr>
              <a:t>转化为有机物 </a:t>
            </a:r>
            <a:r>
              <a:rPr sz="1600">
                <a:solidFill>
                  <a:srgbClr val="FFA500"/>
                </a:solidFill>
              </a:rPr>
              <a:t>• </a:t>
            </a:r>
            <a:r>
              <a:rPr sz="1600">
                <a:solidFill>
                  <a:srgbClr val="333333"/>
                </a:solidFill>
              </a:rPr>
              <a:t>释放氧气，储存能量 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2000"/>
            <a:ext cx="8784000" cy="54000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" y="125999"/>
            <a:ext cx="8424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光反应阶段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600" y="1087200"/>
            <a:ext cx="7920000" cy="560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>
                <a:solidFill>
                  <a:srgbClr val="FFA500"/>
                </a:solidFill>
              </a:rPr>
              <a:t>• </a:t>
            </a:r>
            <a:r>
              <a:rPr sz="1600">
                <a:solidFill>
                  <a:srgbClr val="333333"/>
                </a:solidFill>
              </a:rPr>
              <a:t>发生在叶绿体类囊体薄膜 </a:t>
            </a:r>
            <a:r>
              <a:rPr sz="1600">
                <a:solidFill>
                  <a:srgbClr val="FFA500"/>
                </a:solidFill>
              </a:rPr>
              <a:t>• </a:t>
            </a:r>
            <a:r>
              <a:rPr sz="1600">
                <a:solidFill>
                  <a:srgbClr val="333333"/>
                </a:solidFill>
              </a:rPr>
              <a:t>水光解产生 </a:t>
            </a:r>
            <a:r>
              <a:rPr sz="1600">
                <a:solidFill>
                  <a:srgbClr val="333333"/>
                </a:solidFill>
              </a:rPr>
              <a:t>O₂、[H] </a:t>
            </a:r>
            <a:r>
              <a:rPr sz="1600">
                <a:solidFill>
                  <a:srgbClr val="333333"/>
                </a:solidFill>
              </a:rPr>
              <a:t>和 </a:t>
            </a:r>
            <a:r>
              <a:rPr sz="1600">
                <a:solidFill>
                  <a:srgbClr val="333333"/>
                </a:solidFill>
              </a:rPr>
              <a:t>ATP 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