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gradFill>
            <a:gsLst>
              <a:gs pos="0">
                <a:srgbClr val="001B35"/>
              </a:gs>
              <a:gs pos="55000">
                <a:srgbClr val="00387A"/>
              </a:gs>
              <a:gs pos="100000">
                <a:srgbClr val="0063A8"/>
              </a:gs>
            </a:gsLst>
            <a:lin ang="0" scaled="1"/>
          </a:gra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2667000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0" y="381000"/>
                </a:moveTo>
                <a:lnTo>
                  <a:pt x="12192000" y="0"/>
                </a:lnTo>
                <a:lnTo>
                  <a:pt x="12192000" y="381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562850" y="-1104900"/>
            <a:ext cx="4876800" cy="4876800"/>
          </a:xfrm>
          <a:prstGeom prst="ellipse">
            <a:avLst/>
          </a:prstGeom>
          <a:solidFill>
            <a:srgbClr val="FFFFFF">
              <a:alpha val="22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382000" y="-285750"/>
            <a:ext cx="3238500" cy="3238500"/>
          </a:xfrm>
          <a:prstGeom prst="ellipse">
            <a:avLst/>
          </a:prstGeom>
          <a:solidFill>
            <a:srgbClr val="FFFFFF">
              <a:alpha val="28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086850" y="419100"/>
            <a:ext cx="1828800" cy="1828800"/>
          </a:xfrm>
          <a:prstGeom prst="ellipse">
            <a:avLst/>
          </a:prstGeom>
          <a:solidFill>
            <a:srgbClr val="FFFFFF">
              <a:alpha val="38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620250" y="952500"/>
            <a:ext cx="762000" cy="762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1522" y="406241"/>
            <a:ext cx="16777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 val="57999"/>
                  </a:srgbClr>
                </a:solidFill>
                <a:latin typeface="Arial"/>
                <a:ea typeface="Microsoft YaHei"/>
                <a:cs typeface="Arial"/>
              </a:rPr>
              <a:t>TEACHING AGENT · AI POWERED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60007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6280" y="1040130"/>
            <a:ext cx="79032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光合作用 - 能量转换的核心过程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600200"/>
            <a:ext cx="5715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0EA5E9"/>
              </a:gs>
            </a:gsLst>
            <a:lin ang="5400000" scaled="1"/>
          </a:gra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4855" y="1854518"/>
            <a:ext cx="4904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>
                    <a:alpha val="78000"/>
                  </a:srgbClr>
                </a:solidFill>
                <a:latin typeface="Arial"/>
                <a:ea typeface="Microsoft YaHei"/>
                <a:cs typeface="Arial"/>
              </a:rPr>
              <a:t>绿色植物通过叶绿体利用光能将CO₂和H₂O转化为有机物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3339941"/>
            <a:ext cx="8583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KEY HIGHLIGHTS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35337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62000" y="3657600"/>
            <a:ext cx="38100" cy="1143000"/>
          </a:xfrm>
          <a:prstGeom prst="rect">
            <a:avLst/>
          </a:prstGeom>
          <a:solidFill>
            <a:srgbClr val="00387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0118" y="3657124"/>
            <a:ext cx="2484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1. 释放O₂同时储存化学能于有机物中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0118" y="3990499"/>
            <a:ext cx="2925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2. 是地球生物圈能量流动和物质循环的基础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118" y="4323874"/>
            <a:ext cx="2925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3. 包括光反应和暗反应两个相互联系的阶段</a:t>
            </a:r>
          </a:p>
        </p:txBody>
      </p:sp>
      <p:sp>
        <p:nvSpPr>
          <p:cNvPr id="20" name="Rectangle 20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1" name="Line 21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71475" y="6691312"/>
            <a:ext cx="1508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Teaching Agent AI Generated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05926" y="6691312"/>
            <a:ext cx="1180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PROFESSIONAL EDITION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68614" y="6691312"/>
            <a:ext cx="519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1B35"/>
              </a:gs>
              <a:gs pos="55000">
                <a:srgbClr val="00387A"/>
              </a:gs>
              <a:gs pos="100000">
                <a:srgbClr val="0063A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2902" y="265271"/>
            <a:ext cx="312835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光反应阶段 - 光能的捕获与转化</a:t>
            </a:r>
          </a:p>
        </p:txBody>
      </p:sp>
      <p:sp>
        <p:nvSpPr>
          <p:cNvPr id="5" name="Rectangle 5"/>
          <p:cNvSpPr/>
          <p:nvPr/>
        </p:nvSpPr>
        <p:spPr>
          <a:xfrm>
            <a:off x="381000" y="495300"/>
            <a:ext cx="11430000" cy="38100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81000" y="495300"/>
            <a:ext cx="47625" cy="3810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30542" y="628174"/>
            <a:ext cx="2162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 4 个核心要点 — 点击查看详情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028700"/>
            <a:ext cx="2714625" cy="533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47625" dir="10799312" algn="tl" rotWithShape="0">
              <a:srgbClr val="000000">
                <a:alpha val="11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381000" y="1028700"/>
            <a:ext cx="2714625" cy="57150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81000" y="1485900"/>
            <a:ext cx="2714625" cy="15240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93375" y="1215390"/>
            <a:ext cx="2803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04526" y="20583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发生在叶绿体的类囊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8025" y="2286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体薄膜上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2362200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3875" y="24717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详细说明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1970" y="26746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发生在叶绿体的类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70" y="28651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囊体薄膜上</a:t>
            </a:r>
          </a:p>
        </p:txBody>
      </p:sp>
      <p:sp>
        <p:nvSpPr>
          <p:cNvPr id="18" name="Line 18"/>
          <p:cNvSpPr/>
          <p:nvPr/>
        </p:nvSpPr>
        <p:spPr>
          <a:xfrm>
            <a:off x="533400" y="5648325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3875" y="5757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2445" y="5946458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13+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2922" y="6197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字符数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286125" y="1028700"/>
            <a:ext cx="2714625" cy="533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47625" dir="10799312" algn="tl" rotWithShape="0">
              <a:srgbClr val="000000">
                <a:alpha val="11000"/>
              </a:srgbClr>
            </a:outerShdw>
          </a:effectLst>
        </p:spPr>
      </p:sp>
      <p:sp>
        <p:nvSpPr>
          <p:cNvPr id="23" name="Rectangle 23"/>
          <p:cNvSpPr/>
          <p:nvPr/>
        </p:nvSpPr>
        <p:spPr>
          <a:xfrm>
            <a:off x="3286125" y="1028700"/>
            <a:ext cx="2714625" cy="571500"/>
          </a:xfrm>
          <a:prstGeom prst="rect">
            <a:avLst/>
          </a:prstGeom>
          <a:solidFill>
            <a:srgbClr val="00387A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3286125" y="1485900"/>
            <a:ext cx="2714625" cy="152400"/>
          </a:xfrm>
          <a:prstGeom prst="rect">
            <a:avLst/>
          </a:prstGeom>
          <a:solidFill>
            <a:srgbClr val="00387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63996" y="121539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32166" y="2058352"/>
            <a:ext cx="16127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水分子光解产生O₂、[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23277" y="2286952"/>
            <a:ext cx="6304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H]和ATP</a:t>
            </a:r>
          </a:p>
        </p:txBody>
      </p:sp>
      <p:sp>
        <p:nvSpPr>
          <p:cNvPr id="28" name="Line 28"/>
          <p:cNvSpPr/>
          <p:nvPr/>
        </p:nvSpPr>
        <p:spPr>
          <a:xfrm>
            <a:off x="3438525" y="2362200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429000" y="24717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详细说明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7095" y="2674620"/>
            <a:ext cx="11138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水分子光解产生O₂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7095" y="2865120"/>
            <a:ext cx="7195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、[H]和ATP</a:t>
            </a:r>
          </a:p>
        </p:txBody>
      </p:sp>
      <p:sp>
        <p:nvSpPr>
          <p:cNvPr id="32" name="Line 32"/>
          <p:cNvSpPr/>
          <p:nvPr/>
        </p:nvSpPr>
        <p:spPr>
          <a:xfrm>
            <a:off x="3438525" y="5648325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429000" y="5757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17570" y="5946458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17+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8048" y="6197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字符数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1028700"/>
            <a:ext cx="2714625" cy="533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47625" dir="10799312" algn="tl" rotWithShape="0">
              <a:srgbClr val="000000">
                <a:alpha val="11000"/>
              </a:srgbClr>
            </a:outerShdw>
          </a:effectLst>
        </p:spPr>
      </p:sp>
      <p:sp>
        <p:nvSpPr>
          <p:cNvPr id="37" name="Rectangle 37"/>
          <p:cNvSpPr/>
          <p:nvPr/>
        </p:nvSpPr>
        <p:spPr>
          <a:xfrm>
            <a:off x="6191250" y="1028700"/>
            <a:ext cx="2714625" cy="571500"/>
          </a:xfrm>
          <a:prstGeom prst="rect">
            <a:avLst/>
          </a:prstGeom>
          <a:solidFill>
            <a:srgbClr val="0063A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1485900"/>
            <a:ext cx="2714625" cy="152400"/>
          </a:xfrm>
          <a:prstGeom prst="rect">
            <a:avLst/>
          </a:prstGeom>
          <a:solidFill>
            <a:srgbClr val="0063A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69121" y="121539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5724" y="20583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光能转化为活跃的化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714413" y="2286952"/>
            <a:ext cx="12584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学能储存在ATP中</a:t>
            </a:r>
          </a:p>
        </p:txBody>
      </p:sp>
      <p:sp>
        <p:nvSpPr>
          <p:cNvPr id="42" name="Line 42"/>
          <p:cNvSpPr/>
          <p:nvPr/>
        </p:nvSpPr>
        <p:spPr>
          <a:xfrm>
            <a:off x="6343650" y="2362200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34125" y="24717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详细说明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2220" y="26746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光能转化为活跃的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2220" y="2865120"/>
            <a:ext cx="11598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化学能储存在ATP中</a:t>
            </a:r>
          </a:p>
        </p:txBody>
      </p:sp>
      <p:sp>
        <p:nvSpPr>
          <p:cNvPr id="46" name="Line 46"/>
          <p:cNvSpPr/>
          <p:nvPr/>
        </p:nvSpPr>
        <p:spPr>
          <a:xfrm>
            <a:off x="6343650" y="5648325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334125" y="5757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22695" y="5946458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18+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33172" y="6197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字符数</a:t>
            </a:r>
          </a:p>
        </p:txBody>
      </p:sp>
      <p:sp>
        <p:nvSpPr>
          <p:cNvPr id="50" name="Rectangle 50"/>
          <p:cNvSpPr/>
          <p:nvPr/>
        </p:nvSpPr>
        <p:spPr>
          <a:xfrm>
            <a:off x="9096375" y="1028700"/>
            <a:ext cx="2714625" cy="533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47625" dir="10799312" algn="tl" rotWithShape="0">
              <a:srgbClr val="000000">
                <a:alpha val="11000"/>
              </a:srgbClr>
            </a:outerShdw>
          </a:effectLst>
        </p:spPr>
      </p:sp>
      <p:sp>
        <p:nvSpPr>
          <p:cNvPr id="51" name="Rectangle 51"/>
          <p:cNvSpPr/>
          <p:nvPr/>
        </p:nvSpPr>
        <p:spPr>
          <a:xfrm>
            <a:off x="9096375" y="1028700"/>
            <a:ext cx="2714625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096375" y="1485900"/>
            <a:ext cx="2714625" cy="152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274246" y="121539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510849" y="20583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为暗反应提供必要的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752380" y="22869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还原力和能量</a:t>
            </a:r>
          </a:p>
        </p:txBody>
      </p:sp>
      <p:sp>
        <p:nvSpPr>
          <p:cNvPr id="56" name="Line 56"/>
          <p:cNvSpPr/>
          <p:nvPr/>
        </p:nvSpPr>
        <p:spPr>
          <a:xfrm>
            <a:off x="9248775" y="2362200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239250" y="24717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详细说明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37345" y="26746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为暗反应提供必要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37345" y="28651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的还原力和能量</a:t>
            </a:r>
          </a:p>
        </p:txBody>
      </p:sp>
      <p:sp>
        <p:nvSpPr>
          <p:cNvPr id="60" name="Line 60"/>
          <p:cNvSpPr/>
          <p:nvPr/>
        </p:nvSpPr>
        <p:spPr>
          <a:xfrm>
            <a:off x="9248775" y="5648325"/>
            <a:ext cx="2409825" cy="9525"/>
          </a:xfrm>
          <a:custGeom>
            <a:avLst/>
            <a:gdLst/>
            <a:ahLst/>
            <a:cxnLst/>
            <a:rect l="l" t="t" r="r" b="b"/>
            <a:pathLst>
              <a:path w="2409825" h="9525">
                <a:moveTo>
                  <a:pt x="0" y="0"/>
                </a:moveTo>
                <a:lnTo>
                  <a:pt x="2409825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239250" y="57578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227820" y="5946458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15+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238298" y="61974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字符数</a:t>
            </a:r>
          </a:p>
        </p:txBody>
      </p:sp>
      <p:sp>
        <p:nvSpPr>
          <p:cNvPr id="64" name="Rectangle 6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Line 65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71475" y="6691312"/>
            <a:ext cx="1508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Teaching Agent AI Generated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05926" y="6691312"/>
            <a:ext cx="1180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PROFESSIONAL EDITION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1B35"/>
              </a:gs>
              <a:gs pos="55000">
                <a:srgbClr val="00387A"/>
              </a:gs>
              <a:gs pos="100000">
                <a:srgbClr val="0063A8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60045" y="279082"/>
            <a:ext cx="3116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暗反应阶段 - 有机物的合成</a:t>
            </a:r>
          </a:p>
        </p:txBody>
      </p:sp>
      <p:sp>
        <p:nvSpPr>
          <p:cNvPr id="5" name="Rectangle 5"/>
          <p:cNvSpPr/>
          <p:nvPr/>
        </p:nvSpPr>
        <p:spPr>
          <a:xfrm>
            <a:off x="381000" y="552450"/>
            <a:ext cx="1714500" cy="28575"/>
          </a:xfrm>
          <a:prstGeom prst="rect">
            <a:avLst/>
          </a:prstGeom>
          <a:solidFill>
            <a:srgbClr val="00387A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81000" y="685800"/>
            <a:ext cx="11430000" cy="34290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685800"/>
            <a:ext cx="47625" cy="3429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30542" y="799624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不需要光照可直接进行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238250"/>
            <a:ext cx="11430000" cy="9048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47625" dir="10799312" algn="tl" rotWithShape="0">
              <a:srgbClr val="000000">
                <a:alpha val="11000"/>
              </a:srgbClr>
            </a:outerShdw>
          </a:effectLst>
        </p:spPr>
      </p:sp>
      <p:sp>
        <p:nvSpPr>
          <p:cNvPr id="10" name="Rectangle 10"/>
          <p:cNvSpPr/>
          <p:nvPr/>
        </p:nvSpPr>
        <p:spPr>
          <a:xfrm>
            <a:off x="381000" y="1238250"/>
            <a:ext cx="11430000" cy="40005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562100"/>
            <a:ext cx="11430000" cy="114300"/>
          </a:xfrm>
          <a:prstGeom prst="rect">
            <a:avLst/>
          </a:prstGeom>
          <a:solidFill>
            <a:srgbClr val="001B3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90869" y="1349692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1715452"/>
            <a:ext cx="28483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利用光反应产生的[H]和ATP还原C₃化合物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71475" y="6691312"/>
            <a:ext cx="1508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Teaching Agent AI Generated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05926" y="6691312"/>
            <a:ext cx="1180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PROFESSIONAL EDITION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